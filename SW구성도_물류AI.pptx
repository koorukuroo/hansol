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114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2336"/>
            <a:ext cx="12191695" cy="1270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D4ED8"/>
                </a:solidFill>
                <a:latin typeface="맑은 고딕"/>
              </a:rPr>
              <a:t>AI 응용제품 신속 상용화 지원사업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>
                <a:solidFill>
                  <a:srgbClr val="94A3B8"/>
                </a:solidFill>
                <a:latin typeface="Consolas"/>
              </a:rPr>
              <a:t>SW/AI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1426464"/>
            <a:ext cx="182880" cy="22860"/>
          </a:xfrm>
          <a:prstGeom prst="roundRect">
            <a:avLst>
              <a:gd name="adj" fmla="val 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96512" y="137160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D4ED8"/>
                </a:solidFill>
                <a:latin typeface="Consolas"/>
              </a:rPr>
              <a:t>2026 제조분야 AX 전환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737360"/>
            <a:ext cx="6858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1E293B"/>
                </a:solidFill>
                <a:latin typeface="맑은 고딕"/>
              </a:rPr>
              <a:t>SW · AI 구성도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51460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475569"/>
                </a:solidFill>
                <a:latin typeface="맑은 고딕"/>
              </a:rPr>
              <a:t>AI기반 예측형 물류공급망 통합관제 구축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880360"/>
            <a:ext cx="6858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94A3B8"/>
                </a:solidFill>
                <a:latin typeface="Consolas"/>
              </a:rPr>
              <a:t>8 Modules  ·  129 Functions  ·  815.4 FP  ·  SW개발비 7.7억원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3337560"/>
            <a:ext cx="1371600" cy="256032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3355848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1D4ED8"/>
                </a:solidFill>
                <a:latin typeface="Consolas"/>
              </a:rPr>
              <a:t>도입 덕양가스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3337560"/>
            <a:ext cx="1371600" cy="256032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3355848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059669"/>
                </a:solidFill>
                <a:latin typeface="Consolas"/>
              </a:rPr>
              <a:t>공급 한솔피엔에스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79" y="3337560"/>
            <a:ext cx="1371600" cy="256032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79" y="3355848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D97706"/>
                </a:solidFill>
                <a:latin typeface="Consolas"/>
              </a:rPr>
              <a:t>참여 코어닷투데이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19" y="3337560"/>
            <a:ext cx="1371600" cy="256032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19" y="3355848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7C3AED"/>
                </a:solidFill>
                <a:latin typeface="Consolas"/>
              </a:rPr>
              <a:t>기획 울산TP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60320" y="3931920"/>
            <a:ext cx="1554480" cy="82296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0" y="402336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059669"/>
                </a:solidFill>
                <a:latin typeface="Consolas"/>
              </a:rPr>
              <a:t>3-Tier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370832"/>
            <a:ext cx="1554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94A3B8"/>
                </a:solidFill>
                <a:latin typeface="맑은 고딕"/>
              </a:rPr>
              <a:t>시스템 아키텍처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931920"/>
            <a:ext cx="1554480" cy="82296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402336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1D4ED8"/>
                </a:solidFill>
                <a:latin typeface="Consolas"/>
              </a:rPr>
              <a:t>4종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370832"/>
            <a:ext cx="1554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94A3B8"/>
                </a:solidFill>
                <a:latin typeface="맑은 고딕"/>
              </a:rPr>
              <a:t>데이터 소스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931920"/>
            <a:ext cx="1554480" cy="82296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402336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7C3AED"/>
                </a:solidFill>
                <a:latin typeface="Consolas"/>
              </a:rPr>
              <a:t>3개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370832"/>
            <a:ext cx="1554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94A3B8"/>
                </a:solidFill>
                <a:latin typeface="맑은 고딕"/>
              </a:rPr>
              <a:t>AI 추론 엔진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9560" y="3931920"/>
            <a:ext cx="1554480" cy="82296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4023360"/>
            <a:ext cx="1554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D97706"/>
                </a:solidFill>
                <a:latin typeface="Consolas"/>
              </a:rPr>
              <a:t>3채널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4370832"/>
            <a:ext cx="1554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94A3B8"/>
                </a:solidFill>
                <a:latin typeface="맑은 고딕"/>
              </a:rPr>
              <a:t>사용자 인터페이스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114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2336"/>
            <a:ext cx="12191695" cy="1270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D4ED8"/>
                </a:solidFill>
                <a:latin typeface="맑은 고딕"/>
              </a:rPr>
              <a:t>SW/AI 구성도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>
                <a:solidFill>
                  <a:srgbClr val="94A3B8"/>
                </a:solidFill>
                <a:latin typeface="Consolas"/>
              </a:rPr>
              <a:t>02 / 08 — 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03503"/>
            <a:ext cx="182880" cy="22860"/>
          </a:xfrm>
          <a:prstGeom prst="roundRect">
            <a:avLst>
              <a:gd name="adj" fmla="val 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54864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D4ED8"/>
                </a:solidFill>
                <a:latin typeface="Consolas"/>
              </a:rP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1E293B"/>
                </a:solidFill>
                <a:latin typeface="맑은 고딕"/>
              </a:rPr>
              <a:t>3-Tier 시스템 아키텍처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325880"/>
            <a:ext cx="3108960" cy="484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325880"/>
            <a:ext cx="3108960" cy="320040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62456"/>
            <a:ext cx="292607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Edge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" y="1709928"/>
            <a:ext cx="2962656" cy="475488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728216"/>
            <a:ext cx="2834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E293B"/>
                </a:solidFill>
                <a:latin typeface="맑은 고딕"/>
              </a:rPr>
              <a:t>IoT 탱크 레벨 센서 (200대)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1874519"/>
            <a:ext cx="283464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94A3B8"/>
                </a:solidFill>
                <a:latin typeface="맑은 고딕"/>
              </a:rPr>
              <a:t>초음파 방폭 Ex ia IIC T4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002536"/>
            <a:ext cx="283464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0891B2"/>
                </a:solidFill>
                <a:latin typeface="Consolas"/>
              </a:rPr>
              <a:t>MQTT/LoRaWAN · 15분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2240280"/>
            <a:ext cx="2962656" cy="475488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2258568"/>
            <a:ext cx="2834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E293B"/>
                </a:solidFill>
                <a:latin typeface="맑은 고딕"/>
              </a:rPr>
              <a:t>GPS / OBD-II 차량 단말 (15대)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2404872"/>
            <a:ext cx="283464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94A3B8"/>
                </a:solidFill>
                <a:latin typeface="맑은 고딕"/>
              </a:rPr>
              <a:t>위치, 속도, RPM, 연료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2532888"/>
            <a:ext cx="283464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0891B2"/>
                </a:solidFill>
                <a:latin typeface="Consolas"/>
              </a:rPr>
              <a:t>LTE TCP/IP · 30초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" y="2770632"/>
            <a:ext cx="2962656" cy="475488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2788920"/>
            <a:ext cx="2834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E293B"/>
                </a:solidFill>
                <a:latin typeface="맑은 고딕"/>
              </a:rPr>
              <a:t>Around-View 카메라 (10대)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2935224"/>
            <a:ext cx="283464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94A3B8"/>
                </a:solidFill>
                <a:latin typeface="맑은 고딕"/>
              </a:rPr>
              <a:t>4ch 어안 1920x1080 @30fps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3063240"/>
            <a:ext cx="283464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0891B2"/>
                </a:solidFill>
                <a:latin typeface="Consolas"/>
              </a:rPr>
              <a:t>GigE Vision · IP67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" y="3300984"/>
            <a:ext cx="2962656" cy="475488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3319272"/>
            <a:ext cx="2834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E293B"/>
                </a:solidFill>
                <a:latin typeface="맑은 고딕"/>
              </a:rPr>
              <a:t>엣지 AI 컴퓨팅 (10대)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3465576"/>
            <a:ext cx="283464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94A3B8"/>
                </a:solidFill>
                <a:latin typeface="맑은 고딕"/>
              </a:rPr>
              <a:t>NVIDIA Jetson Orin Nano 8GB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" y="3593592"/>
            <a:ext cx="283464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0891B2"/>
                </a:solidFill>
                <a:latin typeface="Consolas"/>
              </a:rPr>
              <a:t>TensorRT · YOLOv8 15ms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66160" y="1325880"/>
            <a:ext cx="5120640" cy="484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566160" y="1325880"/>
            <a:ext cx="5120640" cy="320040"/>
          </a:xfrm>
          <a:prstGeom prst="roundRect">
            <a:avLst>
              <a:gd name="adj" fmla="val 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0" y="1362456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Platform Layer — AI 추론 &amp; 데이터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0" y="1719072"/>
            <a:ext cx="1554480" cy="475488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30752" y="1755648"/>
            <a:ext cx="140817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E293B"/>
                </a:solidFill>
                <a:latin typeface="맑은 고딕"/>
              </a:rPr>
              <a:t>Apache Kafka 3.x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30752" y="1938528"/>
            <a:ext cx="140817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94A3B8"/>
                </a:solidFill>
                <a:latin typeface="맑은 고딕"/>
              </a:rPr>
              <a:t>실시간 스트림 수집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21808" y="1719072"/>
            <a:ext cx="1554480" cy="475488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60" y="1755648"/>
            <a:ext cx="140817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E293B"/>
                </a:solidFill>
                <a:latin typeface="맑은 고딕"/>
              </a:rPr>
              <a:t>TimescaleDB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1938528"/>
            <a:ext cx="140817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94A3B8"/>
                </a:solidFill>
                <a:latin typeface="맑은 고딕"/>
              </a:rPr>
              <a:t>시계열 파티셔닝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86016" y="1719072"/>
            <a:ext cx="1554480" cy="475488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59168" y="1755648"/>
            <a:ext cx="140817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E293B"/>
                </a:solidFill>
                <a:latin typeface="맑은 고딕"/>
              </a:rPr>
              <a:t>PostgreSQL 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59168" y="1938528"/>
            <a:ext cx="140817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94A3B8"/>
                </a:solidFill>
                <a:latin typeface="맑은 고딕"/>
              </a:rPr>
              <a:t>마스터 데이터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0" y="2286000"/>
            <a:ext cx="1554480" cy="50292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30752" y="2322576"/>
            <a:ext cx="140817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0891B2"/>
                </a:solidFill>
                <a:latin typeface="맑은 고딕"/>
              </a:rPr>
              <a:t>수요예측 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30752" y="2523744"/>
            <a:ext cx="140817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475569"/>
                </a:solidFill>
                <a:latin typeface="Consolas"/>
              </a:rPr>
              <a:t>LSTM + Prophet + XGBoost 앙상블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21808" y="2286000"/>
            <a:ext cx="1554480" cy="50292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94960" y="2322576"/>
            <a:ext cx="140817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D97706"/>
                </a:solidFill>
                <a:latin typeface="맑은 고딕"/>
              </a:rPr>
              <a:t>배차최적화 엔진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94960" y="2523744"/>
            <a:ext cx="140817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475569"/>
                </a:solidFill>
                <a:latin typeface="Consolas"/>
              </a:rPr>
              <a:t>OR-Tools CVRPTW 솔버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86016" y="2286000"/>
            <a:ext cx="1554480" cy="50292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59168" y="2322576"/>
            <a:ext cx="140817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DC2626"/>
                </a:solidFill>
                <a:latin typeface="맑은 고딕"/>
              </a:rPr>
              <a:t>안전보조 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59168" y="2523744"/>
            <a:ext cx="1408176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475569"/>
                </a:solidFill>
                <a:latin typeface="Consolas"/>
              </a:rPr>
              <a:t>YOLOv8 + DeepSORT + TTC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657600" y="2880360"/>
            <a:ext cx="4892040" cy="50292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30752" y="2916936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E293B"/>
                </a:solidFill>
                <a:latin typeface="맑은 고딕"/>
              </a:rPr>
              <a:t>FastAPI REST Gateway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30752" y="3099815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0891B2"/>
                </a:solidFill>
                <a:latin typeface="Consolas"/>
              </a:rPr>
              <a:t>Python 3.12 · JWT/OAuth2 · RBAC · Celery 비동기 · Redis 캐시 · Swagger 자동문서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657600" y="3474720"/>
            <a:ext cx="4892040" cy="411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30752" y="3511296"/>
            <a:ext cx="18288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E293B"/>
                </a:solidFill>
                <a:latin typeface="맑은 고딕"/>
              </a:rPr>
              <a:t>외부 시스템 연동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30752" y="3675887"/>
            <a:ext cx="45720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94A3B8"/>
                </a:solidFill>
                <a:latin typeface="맑은 고딕"/>
              </a:rPr>
              <a:t>SAP ERP (DB Link + REST API Write-back) · 기상청 API · 산업가동 캘린더 · OSRM · Kakao Maps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657600" y="3977639"/>
            <a:ext cx="489204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730752" y="4014215"/>
            <a:ext cx="18288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E293B"/>
                </a:solidFill>
                <a:latin typeface="맑은 고딕"/>
              </a:rPr>
              <a:t>인프라/모니터링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30752" y="4160520"/>
            <a:ext cx="45720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94A3B8"/>
                </a:solidFill>
                <a:latin typeface="맑은 고딕"/>
              </a:rPr>
              <a:t>Docker + Kubernetes · GitLab CI/CD · Grafana + Prometheus · TLS 1.3 / AES-256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869680" y="1325880"/>
            <a:ext cx="3017520" cy="484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869680" y="1325880"/>
            <a:ext cx="3017520" cy="32004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61119" y="1362456"/>
            <a:ext cx="283463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Application Layer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942832" y="1709928"/>
            <a:ext cx="2871215" cy="475488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06840" y="1728216"/>
            <a:ext cx="2743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E293B"/>
                </a:solidFill>
                <a:latin typeface="맑은 고딕"/>
              </a:rPr>
              <a:t>통합관제 대시보드 (Web)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06840" y="1874519"/>
            <a:ext cx="27432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94A3B8"/>
                </a:solidFill>
                <a:latin typeface="맑은 고딕"/>
              </a:rPr>
              <a:t>KPI/잔량/배차/안전 통합 화면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06840" y="2002536"/>
            <a:ext cx="27432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0891B2"/>
                </a:solidFill>
                <a:latin typeface="Consolas"/>
              </a:rPr>
              <a:t>React 18 + TypeScript + D3.js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942832" y="2240280"/>
            <a:ext cx="2871215" cy="475488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006840" y="2258568"/>
            <a:ext cx="2743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E293B"/>
                </a:solidFill>
                <a:latin typeface="맑은 고딕"/>
              </a:rPr>
              <a:t>기사용 모바일 앱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06840" y="2404872"/>
            <a:ext cx="27432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94A3B8"/>
                </a:solidFill>
                <a:latin typeface="맑은 고딕"/>
              </a:rPr>
              <a:t>배송지시, 경로, AVM, 비상신고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06840" y="2532888"/>
            <a:ext cx="27432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0891B2"/>
                </a:solidFill>
                <a:latin typeface="Consolas"/>
              </a:rPr>
              <a:t>React Native · Android/iOS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942832" y="2770632"/>
            <a:ext cx="2871215" cy="475488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006840" y="2788920"/>
            <a:ext cx="2743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E293B"/>
                </a:solidFill>
                <a:latin typeface="맑은 고딕"/>
              </a:rPr>
              <a:t>고객 셀프서비스 포털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06840" y="2935224"/>
            <a:ext cx="27432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94A3B8"/>
                </a:solidFill>
                <a:latin typeface="맑은 고딕"/>
              </a:rPr>
              <a:t>잔량 확인, 배송 예정, 수동 주문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06840" y="3063240"/>
            <a:ext cx="27432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0891B2"/>
                </a:solidFill>
                <a:latin typeface="Consolas"/>
              </a:rPr>
              <a:t>Responsive Web (React)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942832" y="3300984"/>
            <a:ext cx="2871215" cy="475488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006840" y="3319272"/>
            <a:ext cx="2743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E293B"/>
                </a:solidFill>
                <a:latin typeface="맑은 고딕"/>
              </a:rPr>
              <a:t>시스템 모니터링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06840" y="3465576"/>
            <a:ext cx="27432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94A3B8"/>
                </a:solidFill>
                <a:latin typeface="맑은 고딕"/>
              </a:rPr>
              <a:t>서버/AI 모델 성능 실시간 추적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06840" y="3593592"/>
            <a:ext cx="274320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0891B2"/>
                </a:solidFill>
                <a:latin typeface="Consolas"/>
              </a:rPr>
              <a:t>Grafana + Prometheus</a:t>
            </a:r>
          </a:p>
        </p:txBody>
      </p:sp>
      <p:sp>
        <p:nvSpPr>
          <p:cNvPr id="77" name="Right Arrow 76"/>
          <p:cNvSpPr/>
          <p:nvPr/>
        </p:nvSpPr>
        <p:spPr>
          <a:xfrm>
            <a:off x="3401568" y="2286000"/>
            <a:ext cx="164592" cy="137160"/>
          </a:xfrm>
          <a:prstGeom prst="rightArrow">
            <a:avLst/>
          </a:prstGeom>
          <a:solidFill>
            <a:srgbClr val="D1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ight Arrow 77"/>
          <p:cNvSpPr/>
          <p:nvPr/>
        </p:nvSpPr>
        <p:spPr>
          <a:xfrm>
            <a:off x="8686800" y="2286000"/>
            <a:ext cx="164592" cy="137160"/>
          </a:xfrm>
          <a:prstGeom prst="rightArrow">
            <a:avLst/>
          </a:prstGeom>
          <a:solidFill>
            <a:srgbClr val="D1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ight Arrow 78"/>
          <p:cNvSpPr/>
          <p:nvPr/>
        </p:nvSpPr>
        <p:spPr>
          <a:xfrm>
            <a:off x="3401568" y="3200400"/>
            <a:ext cx="164592" cy="137160"/>
          </a:xfrm>
          <a:prstGeom prst="rightArrow">
            <a:avLst/>
          </a:prstGeom>
          <a:solidFill>
            <a:srgbClr val="D1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ight Arrow 79"/>
          <p:cNvSpPr/>
          <p:nvPr/>
        </p:nvSpPr>
        <p:spPr>
          <a:xfrm>
            <a:off x="8686800" y="3200400"/>
            <a:ext cx="164592" cy="137160"/>
          </a:xfrm>
          <a:prstGeom prst="rightArrow">
            <a:avLst/>
          </a:prstGeom>
          <a:solidFill>
            <a:srgbClr val="D1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ight Arrow 80"/>
          <p:cNvSpPr/>
          <p:nvPr/>
        </p:nvSpPr>
        <p:spPr>
          <a:xfrm>
            <a:off x="3401568" y="4114800"/>
            <a:ext cx="164592" cy="137160"/>
          </a:xfrm>
          <a:prstGeom prst="rightArrow">
            <a:avLst/>
          </a:prstGeom>
          <a:solidFill>
            <a:srgbClr val="D1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ight Arrow 81"/>
          <p:cNvSpPr/>
          <p:nvPr/>
        </p:nvSpPr>
        <p:spPr>
          <a:xfrm>
            <a:off x="8686800" y="4114800"/>
            <a:ext cx="164592" cy="137160"/>
          </a:xfrm>
          <a:prstGeom prst="rightArrow">
            <a:avLst/>
          </a:prstGeom>
          <a:solidFill>
            <a:srgbClr val="D1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114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2336"/>
            <a:ext cx="12191695" cy="1270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D4ED8"/>
                </a:solidFill>
                <a:latin typeface="맑은 고딕"/>
              </a:rPr>
              <a:t>SW/AI 구성도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>
                <a:solidFill>
                  <a:srgbClr val="94A3B8"/>
                </a:solidFill>
                <a:latin typeface="Consolas"/>
              </a:rPr>
              <a:t>03 / 08 — Data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03503"/>
            <a:ext cx="182880" cy="22860"/>
          </a:xfrm>
          <a:prstGeom prst="roundRect">
            <a:avLst>
              <a:gd name="adj" fmla="val 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54864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D4ED8"/>
                </a:solidFill>
                <a:latin typeface="Consolas"/>
              </a:rPr>
              <a:t>DATA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E293B"/>
                </a:solidFill>
                <a:latin typeface="맑은 고딕"/>
              </a:rPr>
              <a:t>데이터 수집 → 처리 → AI 추론 → 서비스 파이프라인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234440"/>
            <a:ext cx="320040" cy="914400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508760"/>
            <a:ext cx="320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수집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234440"/>
            <a:ext cx="215798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234440"/>
            <a:ext cx="2157984" cy="32004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307592"/>
            <a:ext cx="201167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E293B"/>
                </a:solidFill>
                <a:latin typeface="맑은 고딕"/>
              </a:rPr>
              <a:t>IoT 센서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1508760"/>
            <a:ext cx="2011679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475569"/>
                </a:solidFill>
                <a:latin typeface="맑은 고딕"/>
              </a:rPr>
              <a:t>탱크 잔량(%), 온도, 압력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1764792"/>
            <a:ext cx="201167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059669"/>
                </a:solidFill>
                <a:latin typeface="Consolas"/>
              </a:rPr>
              <a:t>MQTT · 15분 · 200대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35224" y="1234440"/>
            <a:ext cx="215798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35224" y="1234440"/>
            <a:ext cx="2157984" cy="32004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08376" y="1307592"/>
            <a:ext cx="201167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E293B"/>
                </a:solidFill>
                <a:latin typeface="맑은 고딕"/>
              </a:rPr>
              <a:t>GPS / OBD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8376" y="1508760"/>
            <a:ext cx="2011679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475569"/>
                </a:solidFill>
                <a:latin typeface="맑은 고딕"/>
              </a:rPr>
              <a:t>위도/경도, 속도, RPM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8376" y="1764792"/>
            <a:ext cx="201167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059669"/>
                </a:solidFill>
                <a:latin typeface="Consolas"/>
              </a:rPr>
              <a:t>TCP/IP · 30초 · 15대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84648" y="1234440"/>
            <a:ext cx="215798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84648" y="1234440"/>
            <a:ext cx="2157984" cy="32004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1307592"/>
            <a:ext cx="201167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E293B"/>
                </a:solidFill>
                <a:latin typeface="맑은 고딕"/>
              </a:rPr>
              <a:t>ERP (SAP)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1508760"/>
            <a:ext cx="2011679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475569"/>
                </a:solidFill>
                <a:latin typeface="맑은 고딕"/>
              </a:rPr>
              <a:t>주문, 배송이력, 마스터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1764792"/>
            <a:ext cx="201167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059669"/>
                </a:solidFill>
                <a:latin typeface="Consolas"/>
              </a:rPr>
              <a:t>DB Link · 일배치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34071" y="1234440"/>
            <a:ext cx="215798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34071" y="1234440"/>
            <a:ext cx="2157984" cy="32004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07223" y="1307592"/>
            <a:ext cx="201167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E293B"/>
                </a:solidFill>
                <a:latin typeface="맑은 고딕"/>
              </a:rPr>
              <a:t>기상청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07223" y="1508760"/>
            <a:ext cx="2011679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475569"/>
                </a:solidFill>
                <a:latin typeface="맑은 고딕"/>
              </a:rPr>
              <a:t>기온, 강수, 풍속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07223" y="1764792"/>
            <a:ext cx="201167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059669"/>
                </a:solidFill>
                <a:latin typeface="Consolas"/>
              </a:rPr>
              <a:t>REST · 1시간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83496" y="1234440"/>
            <a:ext cx="215798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83496" y="1234440"/>
            <a:ext cx="2157984" cy="32004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56648" y="1307592"/>
            <a:ext cx="201167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E293B"/>
                </a:solidFill>
                <a:latin typeface="맑은 고딕"/>
              </a:rPr>
              <a:t>AVM 카메라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6648" y="1508760"/>
            <a:ext cx="2011679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475569"/>
                </a:solidFill>
                <a:latin typeface="맑은 고딕"/>
              </a:rPr>
              <a:t>4ch 영상 30fps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648" y="1764792"/>
            <a:ext cx="201167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059669"/>
                </a:solidFill>
                <a:latin typeface="Consolas"/>
              </a:rPr>
              <a:t>GigE · 엣지로컬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5943600" y="2167128"/>
            <a:ext cx="182880" cy="109728"/>
          </a:xfrm>
          <a:prstGeom prst="downArrow">
            <a:avLst/>
          </a:prstGeom>
          <a:solidFill>
            <a:srgbClr val="D1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74320" y="2286000"/>
            <a:ext cx="320040" cy="914400"/>
          </a:xfrm>
          <a:prstGeom prst="roundRect">
            <a:avLst>
              <a:gd name="adj" fmla="val 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2560320"/>
            <a:ext cx="320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처리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2286000"/>
            <a:ext cx="2720339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85800" y="2286000"/>
            <a:ext cx="2720339" cy="32004"/>
          </a:xfrm>
          <a:prstGeom prst="roundRect">
            <a:avLst>
              <a:gd name="adj" fmla="val 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8952" y="2359152"/>
            <a:ext cx="2574035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E293B"/>
                </a:solidFill>
                <a:latin typeface="맑은 고딕"/>
              </a:rPr>
              <a:t>Apache Kafka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" y="2560320"/>
            <a:ext cx="257403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475569"/>
                </a:solidFill>
                <a:latin typeface="맑은 고딕"/>
              </a:rPr>
              <a:t>실시간 스트림 수집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" y="2816352"/>
            <a:ext cx="257403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1D4ED8"/>
                </a:solidFill>
                <a:latin typeface="Consolas"/>
              </a:rPr>
              <a:t>Producer→Topic→Consumer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97579" y="2286000"/>
            <a:ext cx="2720339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497579" y="2286000"/>
            <a:ext cx="2720339" cy="32004"/>
          </a:xfrm>
          <a:prstGeom prst="roundRect">
            <a:avLst>
              <a:gd name="adj" fmla="val 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70732" y="2359152"/>
            <a:ext cx="2574035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E293B"/>
                </a:solidFill>
                <a:latin typeface="맑은 고딕"/>
              </a:rPr>
              <a:t>데이터 전처리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70732" y="2560320"/>
            <a:ext cx="257403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475569"/>
                </a:solidFill>
                <a:latin typeface="맑은 고딕"/>
              </a:rPr>
              <a:t>이상치/결측/정규화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70732" y="2816352"/>
            <a:ext cx="257403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1D4ED8"/>
                </a:solidFill>
                <a:latin typeface="Consolas"/>
              </a:rPr>
              <a:t>Python ETL Pipeline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09359" y="2286000"/>
            <a:ext cx="2720339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309359" y="2286000"/>
            <a:ext cx="2720339" cy="32004"/>
          </a:xfrm>
          <a:prstGeom prst="roundRect">
            <a:avLst>
              <a:gd name="adj" fmla="val 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82512" y="2359152"/>
            <a:ext cx="2574035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E293B"/>
                </a:solidFill>
                <a:latin typeface="맑은 고딕"/>
              </a:rPr>
              <a:t>TimescaleDB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82512" y="2560320"/>
            <a:ext cx="257403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475569"/>
                </a:solidFill>
                <a:latin typeface="맑은 고딕"/>
              </a:rPr>
              <a:t>시계열 Hypertable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82512" y="2816352"/>
            <a:ext cx="257403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1D4ED8"/>
                </a:solidFill>
                <a:latin typeface="Consolas"/>
              </a:rPr>
              <a:t>Continuous Aggregate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21140" y="2286000"/>
            <a:ext cx="2720339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121140" y="2286000"/>
            <a:ext cx="2720339" cy="32004"/>
          </a:xfrm>
          <a:prstGeom prst="roundRect">
            <a:avLst>
              <a:gd name="adj" fmla="val 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94292" y="2359152"/>
            <a:ext cx="2574035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E293B"/>
                </a:solidFill>
                <a:latin typeface="맑은 고딕"/>
              </a:rPr>
              <a:t>PostgreSQL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94292" y="2560320"/>
            <a:ext cx="2574035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475569"/>
                </a:solidFill>
                <a:latin typeface="맑은 고딕"/>
              </a:rPr>
              <a:t>마스터 데이터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94292" y="2816352"/>
            <a:ext cx="257403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1D4ED8"/>
                </a:solidFill>
                <a:latin typeface="Consolas"/>
              </a:rPr>
              <a:t>ACID 트랜잭션</a:t>
            </a:r>
          </a:p>
        </p:txBody>
      </p:sp>
      <p:sp>
        <p:nvSpPr>
          <p:cNvPr id="59" name="Down Arrow 58"/>
          <p:cNvSpPr/>
          <p:nvPr/>
        </p:nvSpPr>
        <p:spPr>
          <a:xfrm>
            <a:off x="5943600" y="3218688"/>
            <a:ext cx="182880" cy="109728"/>
          </a:xfrm>
          <a:prstGeom prst="downArrow">
            <a:avLst/>
          </a:prstGeom>
          <a:solidFill>
            <a:srgbClr val="D1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274320" y="3337560"/>
            <a:ext cx="320040" cy="914400"/>
          </a:xfrm>
          <a:prstGeom prst="roundRect">
            <a:avLst>
              <a:gd name="adj" fmla="val 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4320" y="3611879"/>
            <a:ext cx="320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AI 추론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85800" y="3337560"/>
            <a:ext cx="36576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85800" y="3337560"/>
            <a:ext cx="3657600" cy="32004"/>
          </a:xfrm>
          <a:prstGeom prst="roundRect">
            <a:avLst>
              <a:gd name="adj" fmla="val 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58952" y="3410712"/>
            <a:ext cx="351129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E293B"/>
                </a:solidFill>
                <a:latin typeface="맑은 고딕"/>
              </a:rPr>
              <a:t>수요예측 VMI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8952" y="3611879"/>
            <a:ext cx="3511296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475569"/>
                </a:solidFill>
                <a:latin typeface="맑은 고딕"/>
              </a:rPr>
              <a:t>D+1~D+14 잔량 예측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8952" y="3867911"/>
            <a:ext cx="351129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0891B2"/>
                </a:solidFill>
                <a:latin typeface="Consolas"/>
              </a:rPr>
              <a:t>LSTM+Prophet+XGBoost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434840" y="3337560"/>
            <a:ext cx="36576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4434840" y="3337560"/>
            <a:ext cx="3657600" cy="32004"/>
          </a:xfrm>
          <a:prstGeom prst="roundRect">
            <a:avLst>
              <a:gd name="adj" fmla="val 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07992" y="3410712"/>
            <a:ext cx="351129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E293B"/>
                </a:solidFill>
                <a:latin typeface="맑은 고딕"/>
              </a:rPr>
              <a:t>배차 최적화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07992" y="3611879"/>
            <a:ext cx="3511296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475569"/>
                </a:solidFill>
                <a:latin typeface="맑은 고딕"/>
              </a:rPr>
              <a:t>다중 제약 최적 경로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07992" y="3867911"/>
            <a:ext cx="351129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0891B2"/>
                </a:solidFill>
                <a:latin typeface="Consolas"/>
              </a:rPr>
              <a:t>OR-Tools CVRPTW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183879" y="3337560"/>
            <a:ext cx="36576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8183879" y="3337560"/>
            <a:ext cx="3657600" cy="32004"/>
          </a:xfrm>
          <a:prstGeom prst="roundRect">
            <a:avLst>
              <a:gd name="adj" fmla="val 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57031" y="3410712"/>
            <a:ext cx="3511296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E293B"/>
                </a:solidFill>
                <a:latin typeface="맑은 고딕"/>
              </a:rPr>
              <a:t>안전보조 AI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57031" y="3611879"/>
            <a:ext cx="3511296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475569"/>
                </a:solidFill>
                <a:latin typeface="맑은 고딕"/>
              </a:rPr>
              <a:t>객체감지+충돌예측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57031" y="3867911"/>
            <a:ext cx="3511296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0891B2"/>
                </a:solidFill>
                <a:latin typeface="Consolas"/>
              </a:rPr>
              <a:t>YOLOv8+DeepSORT</a:t>
            </a:r>
          </a:p>
        </p:txBody>
      </p:sp>
      <p:sp>
        <p:nvSpPr>
          <p:cNvPr id="77" name="Down Arrow 76"/>
          <p:cNvSpPr/>
          <p:nvPr/>
        </p:nvSpPr>
        <p:spPr>
          <a:xfrm>
            <a:off x="5943600" y="4270248"/>
            <a:ext cx="182880" cy="109728"/>
          </a:xfrm>
          <a:prstGeom prst="downArrow">
            <a:avLst/>
          </a:prstGeom>
          <a:solidFill>
            <a:srgbClr val="D1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274320" y="4389120"/>
            <a:ext cx="320040" cy="91440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4320" y="4663440"/>
            <a:ext cx="320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</a:rPr>
              <a:t>서비스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85800" y="4389120"/>
            <a:ext cx="215798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685800" y="4389120"/>
            <a:ext cx="2157984" cy="32004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58952" y="4462272"/>
            <a:ext cx="201167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E293B"/>
                </a:solidFill>
                <a:latin typeface="맑은 고딕"/>
              </a:rPr>
              <a:t>FastAPI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58952" y="4663440"/>
            <a:ext cx="2011679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475569"/>
                </a:solidFill>
                <a:latin typeface="맑은 고딕"/>
              </a:rPr>
              <a:t>REST API Gateway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8952" y="4919472"/>
            <a:ext cx="201167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7C3AED"/>
                </a:solidFill>
                <a:latin typeface="Consolas"/>
              </a:rPr>
              <a:t>JWT · Swagger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935224" y="4389120"/>
            <a:ext cx="215798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2935224" y="4389120"/>
            <a:ext cx="2157984" cy="32004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008376" y="4462272"/>
            <a:ext cx="201167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E293B"/>
                </a:solidFill>
                <a:latin typeface="맑은 고딕"/>
              </a:rPr>
              <a:t>관제 대시보드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08376" y="4663440"/>
            <a:ext cx="2011679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475569"/>
                </a:solidFill>
                <a:latin typeface="맑은 고딕"/>
              </a:rPr>
              <a:t>WebSocket 실시간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008376" y="4919472"/>
            <a:ext cx="201167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7C3AED"/>
                </a:solidFill>
                <a:latin typeface="Consolas"/>
              </a:rPr>
              <a:t>React · D3.js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184648" y="4389120"/>
            <a:ext cx="215798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5184648" y="4389120"/>
            <a:ext cx="2157984" cy="32004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257800" y="4462272"/>
            <a:ext cx="201167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E293B"/>
                </a:solidFill>
                <a:latin typeface="맑은 고딕"/>
              </a:rPr>
              <a:t>기사 앱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257800" y="4663440"/>
            <a:ext cx="2011679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475569"/>
                </a:solidFill>
                <a:latin typeface="맑은 고딕"/>
              </a:rPr>
              <a:t>Push 알림 배송지시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257800" y="4919472"/>
            <a:ext cx="201167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7C3AED"/>
                </a:solidFill>
                <a:latin typeface="Consolas"/>
              </a:rPr>
              <a:t>React Native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434071" y="4389120"/>
            <a:ext cx="215798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7434071" y="4389120"/>
            <a:ext cx="2157984" cy="32004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07223" y="4462272"/>
            <a:ext cx="201167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E293B"/>
                </a:solidFill>
                <a:latin typeface="맑은 고딕"/>
              </a:rPr>
              <a:t>고객 포털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507223" y="4663440"/>
            <a:ext cx="2011679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475569"/>
                </a:solidFill>
                <a:latin typeface="맑은 고딕"/>
              </a:rPr>
              <a:t>잔량/배송 조회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507223" y="4919472"/>
            <a:ext cx="201167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7C3AED"/>
                </a:solidFill>
                <a:latin typeface="Consolas"/>
              </a:rPr>
              <a:t>Responsive Web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683496" y="4389120"/>
            <a:ext cx="2157984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9683496" y="4389120"/>
            <a:ext cx="2157984" cy="32004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756648" y="4462272"/>
            <a:ext cx="2011679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E293B"/>
                </a:solidFill>
                <a:latin typeface="맑은 고딕"/>
              </a:rPr>
              <a:t>ERP 반영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756648" y="4663440"/>
            <a:ext cx="2011679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475569"/>
                </a:solidFill>
                <a:latin typeface="맑은 고딕"/>
              </a:rPr>
              <a:t>배송실적 Write-back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756648" y="4919472"/>
            <a:ext cx="201167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7C3AED"/>
                </a:solidFill>
                <a:latin typeface="Consolas"/>
              </a:rPr>
              <a:t>REST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114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2336"/>
            <a:ext cx="12191695" cy="1270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D4ED8"/>
                </a:solidFill>
                <a:latin typeface="맑은 고딕"/>
              </a:rPr>
              <a:t>SW/AI 구성도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>
                <a:solidFill>
                  <a:srgbClr val="94A3B8"/>
                </a:solidFill>
                <a:latin typeface="Consolas"/>
              </a:rPr>
              <a:t>04 / 08 — AI Module #1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03503"/>
            <a:ext cx="182880" cy="22860"/>
          </a:xfrm>
          <a:prstGeom prst="roundRect">
            <a:avLst>
              <a:gd name="adj" fmla="val 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54864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D4ED8"/>
                </a:solidFill>
                <a:latin typeface="Consolas"/>
              </a:rPr>
              <a:t>MODULE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E293B"/>
                </a:solidFill>
                <a:latin typeface="맑은 고딕"/>
              </a:rPr>
              <a:t>[VMI] 수요예측 및 자동보충 — 33개 기능, 217.8 FP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280160"/>
            <a:ext cx="5303520" cy="73152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07592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0891B2"/>
                </a:solidFill>
                <a:latin typeface="맑은 고딕"/>
              </a:rPr>
              <a:t>데이터 입력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554480"/>
            <a:ext cx="1188720" cy="22860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572768"/>
            <a:ext cx="1188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>
                <a:solidFill>
                  <a:srgbClr val="059669"/>
                </a:solidFill>
                <a:latin typeface="Consolas"/>
              </a:rPr>
              <a:t>탱크잔량 IoT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73351" y="1554480"/>
            <a:ext cx="1188720" cy="2286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73351" y="1572768"/>
            <a:ext cx="1188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>
                <a:solidFill>
                  <a:srgbClr val="D97706"/>
                </a:solidFill>
                <a:latin typeface="Consolas"/>
              </a:rPr>
              <a:t>배송이력 ERP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35224" y="1554480"/>
            <a:ext cx="1188720" cy="22860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35224" y="1572768"/>
            <a:ext cx="1188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>
                <a:solidFill>
                  <a:srgbClr val="1D4ED8"/>
                </a:solidFill>
                <a:latin typeface="Consolas"/>
              </a:rPr>
              <a:t>기상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97096" y="1554480"/>
            <a:ext cx="1188720" cy="228600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97096" y="1572768"/>
            <a:ext cx="1188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>
                <a:solidFill>
                  <a:srgbClr val="7C3AED"/>
                </a:solidFill>
                <a:latin typeface="Consolas"/>
              </a:rPr>
              <a:t>산업가동 캘린더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2743200" y="2029968"/>
            <a:ext cx="182880" cy="137160"/>
          </a:xfrm>
          <a:prstGeom prst="downArrow">
            <a:avLst/>
          </a:prstGeom>
          <a:solidFill>
            <a:srgbClr val="D1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4320" y="2240280"/>
            <a:ext cx="5303520" cy="100584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286000"/>
            <a:ext cx="2743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0891B2"/>
                </a:solidFill>
                <a:latin typeface="맑은 고딕"/>
              </a:rPr>
              <a:t>AI 모델 파이프라인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542032"/>
            <a:ext cx="1005840" cy="256032"/>
          </a:xfrm>
          <a:prstGeom prst="roundRect">
            <a:avLst>
              <a:gd name="adj" fmla="val 5000"/>
            </a:avLst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560320"/>
            <a:ext cx="10058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0D9488"/>
                </a:solidFill>
                <a:latin typeface="Consolas"/>
              </a:rPr>
              <a:t>LSTM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54480" y="2542032"/>
            <a:ext cx="1005840" cy="256032"/>
          </a:xfrm>
          <a:prstGeom prst="roundRect">
            <a:avLst>
              <a:gd name="adj" fmla="val 5000"/>
            </a:avLst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2560320"/>
            <a:ext cx="10058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0D9488"/>
                </a:solidFill>
                <a:latin typeface="Consolas"/>
              </a:rPr>
              <a:t>Prophet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51760" y="2542032"/>
            <a:ext cx="1005840" cy="256032"/>
          </a:xfrm>
          <a:prstGeom prst="roundRect">
            <a:avLst>
              <a:gd name="adj" fmla="val 5000"/>
            </a:avLst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760" y="2560320"/>
            <a:ext cx="10058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0D9488"/>
                </a:solidFill>
                <a:latin typeface="Consolas"/>
              </a:rPr>
              <a:t>XGBoost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2560320"/>
            <a:ext cx="274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94A3B8"/>
                </a:solidFill>
                <a:latin typeface="맑은 고딕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77639" y="2542032"/>
            <a:ext cx="1371600" cy="256032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77639" y="256032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</a:rPr>
              <a:t>앙상블 결합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288036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94A3B8"/>
                </a:solidFill>
                <a:latin typeface="Consolas"/>
              </a:rPr>
              <a:t>배치 학습 (일 1회 새벽 3시) · 온라인 추론 (D+1~D+14 잔량 예측)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2743200" y="3273552"/>
            <a:ext cx="182880" cy="137160"/>
          </a:xfrm>
          <a:prstGeom prst="downArrow">
            <a:avLst/>
          </a:prstGeom>
          <a:solidFill>
            <a:srgbClr val="D1D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74320" y="3474720"/>
            <a:ext cx="5303520" cy="91440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3502152"/>
            <a:ext cx="2743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059669"/>
                </a:solidFill>
                <a:latin typeface="맑은 고딕"/>
              </a:rPr>
              <a:t>VMI 자동보충 로직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3749039"/>
            <a:ext cx="502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475569"/>
                </a:solidFill>
                <a:latin typeface="맑은 고딕"/>
              </a:rPr>
              <a:t>잔량 고갈 예측 → 안전재고선(20%) 도달 D-2 판단 → 자동 보충 주문 생성
→ 배차 담당 승인 → 배송 실행 → 실적 피드백 → 모델 재학습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52160" y="1280160"/>
            <a:ext cx="603504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0" y="1316736"/>
            <a:ext cx="57607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94A3B8"/>
                </a:solidFill>
                <a:latin typeface="맑은 고딕"/>
              </a:rPr>
              <a:t>탱크 잔량 관리 (10 func)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1490472"/>
            <a:ext cx="5760720" cy="429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475569"/>
                </a:solidFill>
                <a:latin typeface="맑은 고딕"/>
              </a:rPr>
              <a:t>IoT 수신/저장 · 실시간 모니터링 · 이상치 탐지
센서 CRUD · 소비율 산출 · 트렌드 분석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52160" y="2039112"/>
            <a:ext cx="603504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0" y="2075688"/>
            <a:ext cx="57607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94A3B8"/>
                </a:solidFill>
                <a:latin typeface="맑은 고딕"/>
              </a:rPr>
              <a:t>수요 예측 엔진 (12 func)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2249424"/>
            <a:ext cx="5760720" cy="612647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475569"/>
                </a:solidFill>
                <a:latin typeface="맑은 고딕"/>
              </a:rPr>
              <a:t>LSTM/Prophet/XGBoost 학습 · 앙상블 결합
파라미터 설정 UI · 추론 실행 · MAPE 모니터링
성능 비교 · 자동 재학습 트리거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52160" y="2980944"/>
            <a:ext cx="603504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0" y="3017520"/>
            <a:ext cx="57607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94A3B8"/>
                </a:solidFill>
                <a:latin typeface="맑은 고딕"/>
              </a:rPr>
              <a:t>외부 데이터 연동 (4 func)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3191256"/>
            <a:ext cx="5760720" cy="429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475569"/>
                </a:solidFill>
                <a:latin typeface="맑은 고딕"/>
              </a:rPr>
              <a:t>기상청 API · 산업가동 캘린더
ERP 배송이력 동기화 · 고객마스터 동기화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852160" y="3739896"/>
            <a:ext cx="6035040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0" y="3776472"/>
            <a:ext cx="57607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94A3B8"/>
                </a:solidFill>
                <a:latin typeface="맑은 고딕"/>
              </a:rPr>
              <a:t>VMI 자동보충 (7 func)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3950208"/>
            <a:ext cx="5760720" cy="429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475569"/>
                </a:solidFill>
                <a:latin typeface="맑은 고딕"/>
              </a:rPr>
              <a:t>보충 판단 · 주문 생성 · 승인/거부
긴급도 분류 · 이력 관리 · 성과 리포트 · 정책 설정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114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2336"/>
            <a:ext cx="12191695" cy="1270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D4ED8"/>
                </a:solidFill>
                <a:latin typeface="맑은 고딕"/>
              </a:rPr>
              <a:t>SW/AI 구성도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>
                <a:solidFill>
                  <a:srgbClr val="94A3B8"/>
                </a:solidFill>
                <a:latin typeface="Consolas"/>
              </a:rPr>
              <a:t>05 / 08 — AI Module #2 #3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03503"/>
            <a:ext cx="182880" cy="22860"/>
          </a:xfrm>
          <a:prstGeom prst="roundRect">
            <a:avLst>
              <a:gd name="adj" fmla="val 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54864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D4ED8"/>
                </a:solidFill>
                <a:latin typeface="Consolas"/>
              </a:rPr>
              <a:t>MODULE DETAIL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E293B"/>
                </a:solidFill>
                <a:latin typeface="맑은 고딕"/>
              </a:rPr>
              <a:t>배차 경로 최적화 + Around-View 안전보조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280160"/>
            <a:ext cx="57150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280160"/>
            <a:ext cx="5715000" cy="320040"/>
          </a:xfrm>
          <a:prstGeom prst="roundRect">
            <a:avLst>
              <a:gd name="adj" fmla="val 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16736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[VRP] 배차 · 경로 최적화 — 21 func, 124.7 FP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737360"/>
            <a:ext cx="5440680" cy="50292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764792"/>
            <a:ext cx="5029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D97706"/>
                </a:solidFill>
                <a:latin typeface="맑은 고딕"/>
              </a:rPr>
              <a:t>CVRPTW 솔버 (Google OR-Tools 9.x)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965960"/>
            <a:ext cx="5029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475569"/>
                </a:solidFill>
                <a:latin typeface="Consolas"/>
              </a:rPr>
              <a:t>차량용량 + 시간창 + 위험물경로 + 기사근무 제약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331720"/>
            <a:ext cx="5440680" cy="59436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368296"/>
            <a:ext cx="5212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E293B"/>
                </a:solidFill>
                <a:latin typeface="맑은 고딕"/>
              </a:rPr>
              <a:t>차량/기사 관리 (8 func)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551176"/>
            <a:ext cx="52120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475569"/>
                </a:solidFill>
                <a:latin typeface="맑은 고딕"/>
              </a:rPr>
              <a:t>CRUD, GPS/OBD 수신, 실시간 위치, 운행기록 저장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999232"/>
            <a:ext cx="5440680" cy="77724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035808"/>
            <a:ext cx="5212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E293B"/>
                </a:solidFill>
                <a:latin typeface="맑은 고딕"/>
              </a:rPr>
              <a:t>최적화 엔진 (10 func)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218687"/>
            <a:ext cx="5212080" cy="521207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475569"/>
                </a:solidFill>
                <a:latin typeface="맑은 고딕"/>
              </a:rPr>
              <a:t>배송목록 생성, 솔버 실행, 경로 출력/시각화
배차 확정, 긴급주문 삽입, 이력/효율/공차율 분석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849624"/>
            <a:ext cx="5440680" cy="59436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886200"/>
            <a:ext cx="5212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E293B"/>
                </a:solidFill>
                <a:latin typeface="맑은 고딕"/>
              </a:rPr>
              <a:t>지도/거리 서비스 (3 func)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069080"/>
            <a:ext cx="521208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475569"/>
                </a:solidFill>
                <a:latin typeface="맑은 고딕"/>
              </a:rPr>
              <a:t>OSRM 거리행렬, 위험물경로 필터, 실시간 교통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280160"/>
            <a:ext cx="57150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0" y="1280160"/>
            <a:ext cx="5715000" cy="320040"/>
          </a:xfrm>
          <a:prstGeom prst="roundRect">
            <a:avLst>
              <a:gd name="adj" fmla="val 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316736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</a:rPr>
              <a:t>[AVM] Around-View 안전보조 — 19 func, 157.6 FP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1737360"/>
            <a:ext cx="2697480" cy="50292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1764792"/>
            <a:ext cx="2468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DC2626"/>
                </a:solidFill>
                <a:latin typeface="맑은 고딕"/>
              </a:rPr>
              <a:t>영상 처리 (3)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1965960"/>
            <a:ext cx="2468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475569"/>
                </a:solidFill>
                <a:latin typeface="Consolas"/>
              </a:rPr>
              <a:t>4ch 수신 · 360° 합성(IPM) · 전처리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1737360"/>
            <a:ext cx="2697480" cy="50292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17152" y="1764792"/>
            <a:ext cx="2468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DC2626"/>
                </a:solidFill>
                <a:latin typeface="맑은 고딕"/>
              </a:rPr>
              <a:t>객체 감지 (4)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17152" y="1965960"/>
            <a:ext cx="24688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475569"/>
                </a:solidFill>
                <a:latin typeface="Consolas"/>
              </a:rPr>
              <a:t>YOLOv8 · TensorRT · DeepSORT · TTC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2331720"/>
            <a:ext cx="5440680" cy="50292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2359152"/>
            <a:ext cx="27432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E293B"/>
                </a:solidFill>
                <a:latin typeface="맑은 고딕"/>
              </a:rPr>
              <a:t>3단계 경고 시스템 (5 func)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2560320"/>
            <a:ext cx="1554480" cy="201168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2578608"/>
            <a:ext cx="1554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>
                <a:solidFill>
                  <a:srgbClr val="D97706"/>
                </a:solidFill>
                <a:latin typeface="Consolas"/>
              </a:rPr>
              <a:t>L1 주의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2560320"/>
            <a:ext cx="1554480" cy="201168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38160" y="2578608"/>
            <a:ext cx="1554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>
                <a:solidFill>
                  <a:srgbClr val="DC2626"/>
                </a:solidFill>
                <a:latin typeface="Consolas"/>
              </a:rPr>
              <a:t>L2 경고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84080" y="2560320"/>
            <a:ext cx="1554480" cy="201168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0" y="2578608"/>
            <a:ext cx="15544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>
                <a:solidFill>
                  <a:srgbClr val="DC2626"/>
                </a:solidFill>
                <a:latin typeface="Consolas"/>
              </a:rPr>
              <a:t>L3 긴급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55080" y="2926080"/>
            <a:ext cx="5440680" cy="54864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2962656"/>
            <a:ext cx="5212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E293B"/>
                </a:solidFill>
                <a:latin typeface="맑은 고딕"/>
              </a:rPr>
              <a:t>모델 관리 (4 func)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3145536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475569"/>
                </a:solidFill>
                <a:latin typeface="맑은 고딕"/>
              </a:rPr>
              <a:t>학습, 데이터셋 관리, OTA 배포, 성능 평가 (mAP/F1)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55080" y="3547872"/>
            <a:ext cx="5440680" cy="54864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3584448"/>
            <a:ext cx="521208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E293B"/>
                </a:solidFill>
                <a:latin typeface="맑은 고딕"/>
              </a:rPr>
              <a:t>안전 통계 (3 func)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3767328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475569"/>
                </a:solidFill>
                <a:latin typeface="맑은 고딕"/>
              </a:rPr>
              <a:t>일일/월간 리포트, 반응속도 측정 로그 (ms)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114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2336"/>
            <a:ext cx="12191695" cy="1270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D4ED8"/>
                </a:solidFill>
                <a:latin typeface="맑은 고딕"/>
              </a:rPr>
              <a:t>SW/AI 구성도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>
                <a:solidFill>
                  <a:srgbClr val="94A3B8"/>
                </a:solidFill>
                <a:latin typeface="Consolas"/>
              </a:rPr>
              <a:t>06 / 08 — Module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03503"/>
            <a:ext cx="182880" cy="22860"/>
          </a:xfrm>
          <a:prstGeom prst="roundRect">
            <a:avLst>
              <a:gd name="adj" fmla="val 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54864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D4ED8"/>
                </a:solidFill>
                <a:latin typeface="Consolas"/>
              </a:rPr>
              <a:t>8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E293B"/>
                </a:solidFill>
                <a:latin typeface="맑은 고딕"/>
              </a:rPr>
              <a:t>전체 모듈 구성 — 129개 기능, 815.4 FP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234440"/>
            <a:ext cx="2743200" cy="2039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" y="1234440"/>
            <a:ext cx="2743200" cy="36576"/>
          </a:xfrm>
          <a:prstGeom prst="roundRect">
            <a:avLst>
              <a:gd name="adj" fmla="val 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1479" y="1344168"/>
            <a:ext cx="256032" cy="256032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1325880"/>
            <a:ext cx="2240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E293B"/>
                </a:solidFill>
                <a:latin typeface="맑은 고딕"/>
              </a:rPr>
              <a:t>수요예측 VMI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1490472"/>
            <a:ext cx="224028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94A3B8"/>
                </a:solidFill>
                <a:latin typeface="Consolas"/>
              </a:rPr>
              <a:t>33 func · 217.8 FP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691640"/>
            <a:ext cx="2468880" cy="1554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475569"/>
                </a:solidFill>
                <a:latin typeface="맑은 고딕"/>
              </a:rPr>
              <a:t>  탱크 잔량 관리 (10)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1741932"/>
            <a:ext cx="50800" cy="508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847088"/>
            <a:ext cx="2468880" cy="1554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475569"/>
                </a:solidFill>
                <a:latin typeface="맑은 고딕"/>
              </a:rPr>
              <a:t>  수요 예측 엔진 (12)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1897380"/>
            <a:ext cx="50800" cy="508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002536"/>
            <a:ext cx="2468880" cy="1554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475569"/>
                </a:solidFill>
                <a:latin typeface="맑은 고딕"/>
              </a:rPr>
              <a:t>  외부 데이터 연동 (4)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2052828"/>
            <a:ext cx="50800" cy="508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157984"/>
            <a:ext cx="2468880" cy="1554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475569"/>
                </a:solidFill>
                <a:latin typeface="맑은 고딕"/>
              </a:rPr>
              <a:t>  VMI 자동보충 (7)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2208276"/>
            <a:ext cx="50800" cy="508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00400" y="1234440"/>
            <a:ext cx="2743200" cy="2039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200400" y="1234440"/>
            <a:ext cx="2743200" cy="36576"/>
          </a:xfrm>
          <a:prstGeom prst="roundRect">
            <a:avLst>
              <a:gd name="adj" fmla="val 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291840" y="1344168"/>
            <a:ext cx="256032" cy="25603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84448" y="1325880"/>
            <a:ext cx="2240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E293B"/>
                </a:solidFill>
                <a:latin typeface="맑은 고딕"/>
              </a:rPr>
              <a:t>AVM 안전보조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4448" y="1490472"/>
            <a:ext cx="224028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94A3B8"/>
                </a:solidFill>
                <a:latin typeface="Consolas"/>
              </a:rPr>
              <a:t>19 func · 157.6 FP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1691640"/>
            <a:ext cx="2468880" cy="1554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475569"/>
                </a:solidFill>
                <a:latin typeface="맑은 고딕"/>
              </a:rPr>
              <a:t>  영상 처리 (3)</a:t>
            </a:r>
          </a:p>
        </p:txBody>
      </p:sp>
      <p:sp>
        <p:nvSpPr>
          <p:cNvPr id="28" name="Oval 27"/>
          <p:cNvSpPr/>
          <p:nvPr/>
        </p:nvSpPr>
        <p:spPr>
          <a:xfrm>
            <a:off x="3337560" y="1741932"/>
            <a:ext cx="50800" cy="508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1847088"/>
            <a:ext cx="2468880" cy="1554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475569"/>
                </a:solidFill>
                <a:latin typeface="맑은 고딕"/>
              </a:rPr>
              <a:t>  객체 감지 엔진 (4)</a:t>
            </a:r>
          </a:p>
        </p:txBody>
      </p:sp>
      <p:sp>
        <p:nvSpPr>
          <p:cNvPr id="30" name="Oval 29"/>
          <p:cNvSpPr/>
          <p:nvPr/>
        </p:nvSpPr>
        <p:spPr>
          <a:xfrm>
            <a:off x="3337560" y="1897380"/>
            <a:ext cx="50800" cy="508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37560" y="2002536"/>
            <a:ext cx="2468880" cy="1554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475569"/>
                </a:solidFill>
                <a:latin typeface="맑은 고딕"/>
              </a:rPr>
              <a:t>  경고 시스템 (5)</a:t>
            </a:r>
          </a:p>
        </p:txBody>
      </p:sp>
      <p:sp>
        <p:nvSpPr>
          <p:cNvPr id="32" name="Oval 31"/>
          <p:cNvSpPr/>
          <p:nvPr/>
        </p:nvSpPr>
        <p:spPr>
          <a:xfrm>
            <a:off x="3337560" y="2052828"/>
            <a:ext cx="50800" cy="508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60" y="2157984"/>
            <a:ext cx="2468880" cy="1554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475569"/>
                </a:solidFill>
                <a:latin typeface="맑은 고딕"/>
              </a:rPr>
              <a:t>  모델관리(4) · 통계(3)</a:t>
            </a:r>
          </a:p>
        </p:txBody>
      </p:sp>
      <p:sp>
        <p:nvSpPr>
          <p:cNvPr id="34" name="Oval 33"/>
          <p:cNvSpPr/>
          <p:nvPr/>
        </p:nvSpPr>
        <p:spPr>
          <a:xfrm>
            <a:off x="3337560" y="2208276"/>
            <a:ext cx="50800" cy="508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080759" y="1234440"/>
            <a:ext cx="2743200" cy="18836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080759" y="1234440"/>
            <a:ext cx="2743200" cy="36576"/>
          </a:xfrm>
          <a:prstGeom prst="roundRect">
            <a:avLst>
              <a:gd name="adj" fmla="val 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172199" y="1344168"/>
            <a:ext cx="256032" cy="25603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7" y="1325880"/>
            <a:ext cx="2240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E293B"/>
                </a:solidFill>
                <a:latin typeface="맑은 고딕"/>
              </a:rPr>
              <a:t>배차 경로 최적화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4807" y="1490472"/>
            <a:ext cx="224028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94A3B8"/>
                </a:solidFill>
                <a:latin typeface="Consolas"/>
              </a:rPr>
              <a:t>21 func · 124.7 FP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1691640"/>
            <a:ext cx="2468880" cy="1554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475569"/>
                </a:solidFill>
                <a:latin typeface="맑은 고딕"/>
              </a:rPr>
              <a:t>  차량/기사 관리 (8)</a:t>
            </a:r>
          </a:p>
        </p:txBody>
      </p:sp>
      <p:sp>
        <p:nvSpPr>
          <p:cNvPr id="41" name="Oval 40"/>
          <p:cNvSpPr/>
          <p:nvPr/>
        </p:nvSpPr>
        <p:spPr>
          <a:xfrm>
            <a:off x="6217920" y="1741932"/>
            <a:ext cx="50800" cy="508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1847088"/>
            <a:ext cx="2468880" cy="1554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475569"/>
                </a:solidFill>
                <a:latin typeface="맑은 고딕"/>
              </a:rPr>
              <a:t>  CVRPTW 최적화 (10)</a:t>
            </a:r>
          </a:p>
        </p:txBody>
      </p:sp>
      <p:sp>
        <p:nvSpPr>
          <p:cNvPr id="43" name="Oval 42"/>
          <p:cNvSpPr/>
          <p:nvPr/>
        </p:nvSpPr>
        <p:spPr>
          <a:xfrm>
            <a:off x="6217920" y="1897380"/>
            <a:ext cx="50800" cy="508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2002536"/>
            <a:ext cx="2468880" cy="1554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475569"/>
                </a:solidFill>
                <a:latin typeface="맑은 고딕"/>
              </a:rPr>
              <a:t>  지도/거리 서비스 (3)</a:t>
            </a:r>
          </a:p>
        </p:txBody>
      </p:sp>
      <p:sp>
        <p:nvSpPr>
          <p:cNvPr id="45" name="Oval 44"/>
          <p:cNvSpPr/>
          <p:nvPr/>
        </p:nvSpPr>
        <p:spPr>
          <a:xfrm>
            <a:off x="6217920" y="2052828"/>
            <a:ext cx="50800" cy="508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961119" y="1234440"/>
            <a:ext cx="2743200" cy="18836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961119" y="1234440"/>
            <a:ext cx="2743200" cy="36576"/>
          </a:xfrm>
          <a:prstGeom prst="roundRect">
            <a:avLst>
              <a:gd name="adj" fmla="val 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52559" y="1344168"/>
            <a:ext cx="256032" cy="256032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45167" y="1325880"/>
            <a:ext cx="2240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E293B"/>
                </a:solidFill>
                <a:latin typeface="맑은 고딕"/>
              </a:rPr>
              <a:t>통합관제 플랫폼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45167" y="1490472"/>
            <a:ext cx="224028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94A3B8"/>
                </a:solidFill>
                <a:latin typeface="Consolas"/>
              </a:rPr>
              <a:t>22 func · 124.9 FP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80" y="1691640"/>
            <a:ext cx="2468880" cy="1554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475569"/>
                </a:solidFill>
                <a:latin typeface="맑은 고딕"/>
              </a:rPr>
              <a:t>  대시보드/KPI (5)</a:t>
            </a:r>
          </a:p>
        </p:txBody>
      </p:sp>
      <p:sp>
        <p:nvSpPr>
          <p:cNvPr id="52" name="Oval 51"/>
          <p:cNvSpPr/>
          <p:nvPr/>
        </p:nvSpPr>
        <p:spPr>
          <a:xfrm>
            <a:off x="9098280" y="1741932"/>
            <a:ext cx="50800" cy="508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98280" y="1847088"/>
            <a:ext cx="2468880" cy="1554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475569"/>
                </a:solidFill>
                <a:latin typeface="맑은 고딕"/>
              </a:rPr>
              <a:t>  고객/주문/배송 (11)</a:t>
            </a:r>
          </a:p>
        </p:txBody>
      </p:sp>
      <p:sp>
        <p:nvSpPr>
          <p:cNvPr id="54" name="Oval 53"/>
          <p:cNvSpPr/>
          <p:nvPr/>
        </p:nvSpPr>
        <p:spPr>
          <a:xfrm>
            <a:off x="9098280" y="1897380"/>
            <a:ext cx="50800" cy="508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98280" y="2002536"/>
            <a:ext cx="2468880" cy="1554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475569"/>
                </a:solidFill>
                <a:latin typeface="맑은 고딕"/>
              </a:rPr>
              <a:t>  리포트(3) · 사용자(4)</a:t>
            </a:r>
          </a:p>
        </p:txBody>
      </p:sp>
      <p:sp>
        <p:nvSpPr>
          <p:cNvPr id="56" name="Oval 55"/>
          <p:cNvSpPr/>
          <p:nvPr/>
        </p:nvSpPr>
        <p:spPr>
          <a:xfrm>
            <a:off x="9098280" y="2052828"/>
            <a:ext cx="50800" cy="5080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320040" y="3794760"/>
            <a:ext cx="2743200" cy="18836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320040" y="3794760"/>
            <a:ext cx="2743200" cy="36576"/>
          </a:xfrm>
          <a:prstGeom prst="roundRect">
            <a:avLst>
              <a:gd name="adj" fmla="val 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11479" y="3904488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4088" y="3886200"/>
            <a:ext cx="2240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E293B"/>
                </a:solidFill>
                <a:latin typeface="맑은 고딕"/>
              </a:rPr>
              <a:t>데이터 플랫폼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4088" y="4050792"/>
            <a:ext cx="224028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94A3B8"/>
                </a:solidFill>
                <a:latin typeface="Consolas"/>
              </a:rPr>
              <a:t>10 func · 78.5 FP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4251960"/>
            <a:ext cx="2468880" cy="1554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475569"/>
                </a:solidFill>
                <a:latin typeface="맑은 고딕"/>
              </a:rPr>
              <a:t>  Kafka 스트림 + ETL (4)</a:t>
            </a:r>
          </a:p>
        </p:txBody>
      </p:sp>
      <p:sp>
        <p:nvSpPr>
          <p:cNvPr id="63" name="Oval 62"/>
          <p:cNvSpPr/>
          <p:nvPr/>
        </p:nvSpPr>
        <p:spPr>
          <a:xfrm>
            <a:off x="457200" y="4302252"/>
            <a:ext cx="50800" cy="508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4407408"/>
            <a:ext cx="2468880" cy="1554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475569"/>
                </a:solidFill>
                <a:latin typeface="맑은 고딕"/>
              </a:rPr>
              <a:t>  DB 관리/백업 (3)</a:t>
            </a:r>
          </a:p>
        </p:txBody>
      </p:sp>
      <p:sp>
        <p:nvSpPr>
          <p:cNvPr id="65" name="Oval 64"/>
          <p:cNvSpPr/>
          <p:nvPr/>
        </p:nvSpPr>
        <p:spPr>
          <a:xfrm>
            <a:off x="457200" y="4457700"/>
            <a:ext cx="50800" cy="508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4562856"/>
            <a:ext cx="2468880" cy="1554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475569"/>
                </a:solidFill>
                <a:latin typeface="맑은 고딕"/>
              </a:rPr>
              <a:t>  API Gateway (3)</a:t>
            </a:r>
          </a:p>
        </p:txBody>
      </p:sp>
      <p:sp>
        <p:nvSpPr>
          <p:cNvPr id="67" name="Oval 66"/>
          <p:cNvSpPr/>
          <p:nvPr/>
        </p:nvSpPr>
        <p:spPr>
          <a:xfrm>
            <a:off x="457200" y="4613148"/>
            <a:ext cx="50800" cy="508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3200400" y="3794760"/>
            <a:ext cx="2743200" cy="18836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200400" y="3794760"/>
            <a:ext cx="2743200" cy="36576"/>
          </a:xfrm>
          <a:prstGeom prst="roundRect">
            <a:avLst>
              <a:gd name="adj" fmla="val 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291840" y="3904488"/>
            <a:ext cx="256032" cy="25603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84448" y="3886200"/>
            <a:ext cx="2240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E293B"/>
                </a:solidFill>
                <a:latin typeface="맑은 고딕"/>
              </a:rPr>
              <a:t>기사 모바일 앱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584448" y="4050792"/>
            <a:ext cx="224028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94A3B8"/>
                </a:solidFill>
                <a:latin typeface="Consolas"/>
              </a:rPr>
              <a:t>10 func · 44.6 FP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37560" y="4251960"/>
            <a:ext cx="2468880" cy="1554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475569"/>
                </a:solidFill>
                <a:latin typeface="맑은 고딕"/>
              </a:rPr>
              <a:t>  배송 관리 (5)</a:t>
            </a:r>
          </a:p>
        </p:txBody>
      </p:sp>
      <p:sp>
        <p:nvSpPr>
          <p:cNvPr id="74" name="Oval 73"/>
          <p:cNvSpPr/>
          <p:nvPr/>
        </p:nvSpPr>
        <p:spPr>
          <a:xfrm>
            <a:off x="3337560" y="4302252"/>
            <a:ext cx="50800" cy="508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337560" y="4407408"/>
            <a:ext cx="2468880" cy="1554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475569"/>
                </a:solidFill>
                <a:latin typeface="맑은 고딕"/>
              </a:rPr>
              <a:t>  안전 보조 (2)</a:t>
            </a:r>
          </a:p>
        </p:txBody>
      </p:sp>
      <p:sp>
        <p:nvSpPr>
          <p:cNvPr id="76" name="Oval 75"/>
          <p:cNvSpPr/>
          <p:nvPr/>
        </p:nvSpPr>
        <p:spPr>
          <a:xfrm>
            <a:off x="3337560" y="4457700"/>
            <a:ext cx="50800" cy="508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337560" y="4562856"/>
            <a:ext cx="2468880" cy="1554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475569"/>
                </a:solidFill>
                <a:latin typeface="맑은 고딕"/>
              </a:rPr>
              <a:t>  운행일지/점검/비상 (3)</a:t>
            </a:r>
          </a:p>
        </p:txBody>
      </p:sp>
      <p:sp>
        <p:nvSpPr>
          <p:cNvPr id="78" name="Oval 77"/>
          <p:cNvSpPr/>
          <p:nvPr/>
        </p:nvSpPr>
        <p:spPr>
          <a:xfrm>
            <a:off x="3337560" y="4613148"/>
            <a:ext cx="50800" cy="508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6080759" y="3794760"/>
            <a:ext cx="2743200" cy="17282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080759" y="3794760"/>
            <a:ext cx="2743200" cy="36576"/>
          </a:xfrm>
          <a:prstGeom prst="roundRect">
            <a:avLst>
              <a:gd name="adj" fmla="val 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172199" y="3904488"/>
            <a:ext cx="256032" cy="256032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64807" y="3886200"/>
            <a:ext cx="2240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E293B"/>
                </a:solidFill>
                <a:latin typeface="맑은 고딕"/>
              </a:rPr>
              <a:t>시스템 관리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64807" y="4050792"/>
            <a:ext cx="224028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94A3B8"/>
                </a:solidFill>
                <a:latin typeface="Consolas"/>
              </a:rPr>
              <a:t>8 func · 43.4 FP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17920" y="4251960"/>
            <a:ext cx="2468880" cy="1554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475569"/>
                </a:solidFill>
                <a:latin typeface="맑은 고딕"/>
              </a:rPr>
              <a:t>  모니터링 (4)</a:t>
            </a:r>
          </a:p>
        </p:txBody>
      </p:sp>
      <p:sp>
        <p:nvSpPr>
          <p:cNvPr id="85" name="Oval 84"/>
          <p:cNvSpPr/>
          <p:nvPr/>
        </p:nvSpPr>
        <p:spPr>
          <a:xfrm>
            <a:off x="6217920" y="4302252"/>
            <a:ext cx="50800" cy="5080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217920" y="4407408"/>
            <a:ext cx="2468880" cy="1554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475569"/>
                </a:solidFill>
                <a:latin typeface="맑은 고딕"/>
              </a:rPr>
              <a:t>  CI/CD + 배포 (4)</a:t>
            </a:r>
          </a:p>
        </p:txBody>
      </p:sp>
      <p:sp>
        <p:nvSpPr>
          <p:cNvPr id="87" name="Oval 86"/>
          <p:cNvSpPr/>
          <p:nvPr/>
        </p:nvSpPr>
        <p:spPr>
          <a:xfrm>
            <a:off x="6217920" y="4457700"/>
            <a:ext cx="50800" cy="5080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8961119" y="3794760"/>
            <a:ext cx="2743200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8961119" y="3794760"/>
            <a:ext cx="2743200" cy="36576"/>
          </a:xfrm>
          <a:prstGeom prst="roundRect">
            <a:avLst>
              <a:gd name="adj" fmla="val 0"/>
            </a:avLst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052559" y="3904488"/>
            <a:ext cx="256032" cy="256032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345167" y="3886200"/>
            <a:ext cx="2240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E293B"/>
                </a:solidFill>
                <a:latin typeface="맑은 고딕"/>
              </a:rPr>
              <a:t>고객 포털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345167" y="4050792"/>
            <a:ext cx="2240280" cy="1463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94A3B8"/>
                </a:solidFill>
                <a:latin typeface="Consolas"/>
              </a:rPr>
              <a:t>6 func · 23.9 FP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098280" y="4251960"/>
            <a:ext cx="2468880" cy="1554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475569"/>
                </a:solidFill>
                <a:latin typeface="맑은 고딕"/>
              </a:rPr>
              <a:t>  잔량/배송/주문/리포트 (6)</a:t>
            </a:r>
          </a:p>
        </p:txBody>
      </p:sp>
      <p:sp>
        <p:nvSpPr>
          <p:cNvPr id="94" name="Oval 93"/>
          <p:cNvSpPr/>
          <p:nvPr/>
        </p:nvSpPr>
        <p:spPr>
          <a:xfrm>
            <a:off x="9098280" y="4302252"/>
            <a:ext cx="50800" cy="5080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114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2336"/>
            <a:ext cx="12191695" cy="1270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D4ED8"/>
                </a:solidFill>
                <a:latin typeface="맑은 고딕"/>
              </a:rPr>
              <a:t>SW/AI 구성도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>
                <a:solidFill>
                  <a:srgbClr val="94A3B8"/>
                </a:solidFill>
                <a:latin typeface="Consolas"/>
              </a:rPr>
              <a:t>07 / 08 — FP Cost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03503"/>
            <a:ext cx="182880" cy="22860"/>
          </a:xfrm>
          <a:prstGeom prst="roundRect">
            <a:avLst>
              <a:gd name="adj" fmla="val 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54864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D4ED8"/>
                </a:solidFill>
                <a:latin typeface="Consolas"/>
              </a:rPr>
              <a:t>FUNCTION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E293B"/>
                </a:solidFill>
                <a:latin typeface="맑은 고딕"/>
              </a:rPr>
              <a:t>기능점수 기반 SW 개발비 산출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34440"/>
            <a:ext cx="7315200" cy="2743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71016"/>
            <a:ext cx="2286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475569"/>
                </a:solidFill>
                <a:latin typeface="맑은 고딕"/>
              </a:rPr>
              <a:t>모듈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271016"/>
            <a:ext cx="640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475569"/>
                </a:solidFill>
                <a:latin typeface="맑은 고딕"/>
              </a:rPr>
              <a:t>기능수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271016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475569"/>
                </a:solidFill>
                <a:latin typeface="맑은 고딕"/>
              </a:rPr>
              <a:t>FP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271016"/>
            <a:ext cx="640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475569"/>
                </a:solidFill>
                <a:latin typeface="맑은 고딕"/>
              </a:rPr>
              <a:t>비중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271016"/>
            <a:ext cx="2560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475569"/>
                </a:solidFill>
                <a:latin typeface="맑은 고딕"/>
              </a:rPr>
              <a:t>규모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554480"/>
            <a:ext cx="2286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0891B2"/>
                </a:solidFill>
                <a:latin typeface="맑은 고딕"/>
              </a:rPr>
              <a:t>수요예측 VMI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1554480"/>
            <a:ext cx="640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1554480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E293B"/>
                </a:solidFill>
                <a:latin typeface="Consolas"/>
              </a:rPr>
              <a:t>217.8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1554480"/>
            <a:ext cx="640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94A3B8"/>
                </a:solidFill>
                <a:latin typeface="Consolas"/>
              </a:rPr>
              <a:t>26.7%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1591056"/>
            <a:ext cx="2560320" cy="146304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20640" y="1591056"/>
            <a:ext cx="2560320" cy="146304"/>
          </a:xfrm>
          <a:prstGeom prst="roundRect">
            <a:avLst>
              <a:gd name="adj" fmla="val 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1792224"/>
            <a:ext cx="7269480" cy="635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1828800"/>
            <a:ext cx="2286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DC2626"/>
                </a:solidFill>
                <a:latin typeface="맑은 고딕"/>
              </a:rPr>
              <a:t>AVM 안전보조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1828800"/>
            <a:ext cx="640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1828800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E293B"/>
                </a:solidFill>
                <a:latin typeface="Consolas"/>
              </a:rPr>
              <a:t>157.6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1828800"/>
            <a:ext cx="640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94A3B8"/>
                </a:solidFill>
                <a:latin typeface="Consolas"/>
              </a:rPr>
              <a:t>19.3%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1865376"/>
            <a:ext cx="2560320" cy="146304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120640" y="1865376"/>
            <a:ext cx="1852646" cy="146304"/>
          </a:xfrm>
          <a:prstGeom prst="roundRect">
            <a:avLst>
              <a:gd name="adj" fmla="val 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2066543"/>
            <a:ext cx="7269480" cy="635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103120"/>
            <a:ext cx="2286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D97706"/>
                </a:solidFill>
                <a:latin typeface="맑은 고딕"/>
              </a:rPr>
              <a:t>배차 최적화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2103120"/>
            <a:ext cx="640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2103120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E293B"/>
                </a:solidFill>
                <a:latin typeface="Consolas"/>
              </a:rPr>
              <a:t>124.7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2103120"/>
            <a:ext cx="640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94A3B8"/>
                </a:solidFill>
                <a:latin typeface="Consolas"/>
              </a:rPr>
              <a:t>15.3%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20640" y="2139696"/>
            <a:ext cx="2560320" cy="146304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120640" y="2139696"/>
            <a:ext cx="1465894" cy="146304"/>
          </a:xfrm>
          <a:prstGeom prst="roundRect">
            <a:avLst>
              <a:gd name="adj" fmla="val 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2340863"/>
            <a:ext cx="7269480" cy="635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2377439"/>
            <a:ext cx="2286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D4ED8"/>
                </a:solidFill>
                <a:latin typeface="맑은 고딕"/>
              </a:rPr>
              <a:t>통합관제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2377439"/>
            <a:ext cx="640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2377439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E293B"/>
                </a:solidFill>
                <a:latin typeface="Consolas"/>
              </a:rPr>
              <a:t>124.9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2377439"/>
            <a:ext cx="640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94A3B8"/>
                </a:solidFill>
                <a:latin typeface="Consolas"/>
              </a:rPr>
              <a:t>15.3%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20640" y="2414015"/>
            <a:ext cx="2560320" cy="146304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120640" y="2414015"/>
            <a:ext cx="1468245" cy="146304"/>
          </a:xfrm>
          <a:prstGeom prst="roundRect">
            <a:avLst>
              <a:gd name="adj" fmla="val 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2615183"/>
            <a:ext cx="7269480" cy="635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2651759"/>
            <a:ext cx="2286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6366F1"/>
                </a:solidFill>
                <a:latin typeface="맑은 고딕"/>
              </a:rPr>
              <a:t>데이터 플랫폼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34640" y="2651759"/>
            <a:ext cx="640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0" y="2651759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E293B"/>
                </a:solidFill>
                <a:latin typeface="Consolas"/>
              </a:rPr>
              <a:t>78.5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2651759"/>
            <a:ext cx="640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94A3B8"/>
                </a:solidFill>
                <a:latin typeface="Consolas"/>
              </a:rPr>
              <a:t>9.6%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120640" y="2688335"/>
            <a:ext cx="2560320" cy="146304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120640" y="2688335"/>
            <a:ext cx="922796" cy="146304"/>
          </a:xfrm>
          <a:prstGeom prst="roundRect">
            <a:avLst>
              <a:gd name="adj" fmla="val 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" y="2889503"/>
            <a:ext cx="7269480" cy="635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2926079"/>
            <a:ext cx="2286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0D9488"/>
                </a:solidFill>
                <a:latin typeface="맑은 고딕"/>
              </a:rPr>
              <a:t>모바일 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34640" y="2926079"/>
            <a:ext cx="640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66160" y="2926079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E293B"/>
                </a:solidFill>
                <a:latin typeface="Consolas"/>
              </a:rPr>
              <a:t>44.6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0" y="2926079"/>
            <a:ext cx="640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94A3B8"/>
                </a:solidFill>
                <a:latin typeface="Consolas"/>
              </a:rPr>
              <a:t>5.5%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120640" y="2962655"/>
            <a:ext cx="2560320" cy="146304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120640" y="2962655"/>
            <a:ext cx="524289" cy="146304"/>
          </a:xfrm>
          <a:prstGeom prst="roundRect">
            <a:avLst>
              <a:gd name="adj" fmla="val 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7200" y="3163823"/>
            <a:ext cx="7269480" cy="635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3200399"/>
            <a:ext cx="2286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64748B"/>
                </a:solidFill>
                <a:latin typeface="맑은 고딕"/>
              </a:rPr>
              <a:t>시스템 관리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34640" y="3200399"/>
            <a:ext cx="640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66160" y="3200399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E293B"/>
                </a:solidFill>
                <a:latin typeface="Consolas"/>
              </a:rPr>
              <a:t>43.4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89120" y="3200399"/>
            <a:ext cx="640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94A3B8"/>
                </a:solidFill>
                <a:latin typeface="Consolas"/>
              </a:rPr>
              <a:t>5.3%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120640" y="3236975"/>
            <a:ext cx="2560320" cy="146304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120640" y="3236975"/>
            <a:ext cx="510183" cy="146304"/>
          </a:xfrm>
          <a:prstGeom prst="roundRect">
            <a:avLst>
              <a:gd name="adj" fmla="val 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57200" y="3438143"/>
            <a:ext cx="7269480" cy="635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3474719"/>
            <a:ext cx="2286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DB2777"/>
                </a:solidFill>
                <a:latin typeface="맑은 고딕"/>
              </a:rPr>
              <a:t>고객 포털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34640" y="3474719"/>
            <a:ext cx="640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E293B"/>
                </a:solidFill>
                <a:latin typeface="Consolas"/>
              </a:rP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66160" y="3474719"/>
            <a:ext cx="731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E293B"/>
                </a:solidFill>
                <a:latin typeface="Consolas"/>
              </a:rPr>
              <a:t>23.9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89120" y="3474719"/>
            <a:ext cx="640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94A3B8"/>
                </a:solidFill>
                <a:latin typeface="Consolas"/>
              </a:rPr>
              <a:t>2.9%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120640" y="3511295"/>
            <a:ext cx="2560320" cy="146304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5120640" y="3511295"/>
            <a:ext cx="280953" cy="146304"/>
          </a:xfrm>
          <a:prstGeom prst="roundRect">
            <a:avLst>
              <a:gd name="adj" fmla="val 0"/>
            </a:avLst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57200" y="3712463"/>
            <a:ext cx="7269480" cy="635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457200" y="3730751"/>
            <a:ext cx="7315200" cy="29260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3767327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E293B"/>
                </a:solidFill>
                <a:latin typeface="맑은 고딕"/>
              </a:rPr>
              <a:t>합계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34640" y="3767327"/>
            <a:ext cx="640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E293B"/>
                </a:solidFill>
                <a:latin typeface="Consolas"/>
              </a:rPr>
              <a:t>129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566160" y="3767327"/>
            <a:ext cx="731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D4ED8"/>
                </a:solidFill>
                <a:latin typeface="Consolas"/>
              </a:rPr>
              <a:t>815.4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89120" y="3767327"/>
            <a:ext cx="6400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E293B"/>
                </a:solidFill>
                <a:latin typeface="Consolas"/>
              </a:rPr>
              <a:t>100%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31520" y="4572000"/>
            <a:ext cx="2560320" cy="77724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731520" y="4572000"/>
            <a:ext cx="2560320" cy="32004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31520" y="466344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E293B"/>
                </a:solidFill>
                <a:latin typeface="Consolas"/>
              </a:rPr>
              <a:t>553,114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1520" y="5029200"/>
            <a:ext cx="2560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50" b="0">
                <a:solidFill>
                  <a:srgbClr val="94A3B8"/>
                </a:solidFill>
                <a:latin typeface="맑은 고딕"/>
              </a:rPr>
              <a:t>FP당 단가 (원, KOSA 2024)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520439" y="4572000"/>
            <a:ext cx="2560320" cy="77724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3520439" y="4572000"/>
            <a:ext cx="2560320" cy="32004"/>
          </a:xfrm>
          <a:prstGeom prst="roundRect">
            <a:avLst>
              <a:gd name="adj" fmla="val 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520439" y="466344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D97706"/>
                </a:solidFill>
                <a:latin typeface="Consolas"/>
              </a:rPr>
              <a:t>× 1.4766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20439" y="5029200"/>
            <a:ext cx="2560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50" b="0">
                <a:solidFill>
                  <a:srgbClr val="94A3B8"/>
                </a:solidFill>
                <a:latin typeface="맑은 고딕"/>
              </a:rPr>
              <a:t>보정계수 (규모·연계·보안)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309359" y="4572000"/>
            <a:ext cx="2560320" cy="77724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6309359" y="4572000"/>
            <a:ext cx="2560320" cy="32004"/>
          </a:xfrm>
          <a:prstGeom prst="roundRect">
            <a:avLst>
              <a:gd name="adj" fmla="val 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09359" y="466344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D4ED8"/>
                </a:solidFill>
                <a:latin typeface="Consolas"/>
              </a:rPr>
              <a:t>6.66억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09359" y="5029200"/>
            <a:ext cx="2560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50" b="0">
                <a:solidFill>
                  <a:srgbClr val="94A3B8"/>
                </a:solidFill>
                <a:latin typeface="맑은 고딕"/>
              </a:rPr>
              <a:t>보정후 개발원가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098280" y="4572000"/>
            <a:ext cx="2560320" cy="77724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9098280" y="4572000"/>
            <a:ext cx="2560320" cy="32004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098280" y="466344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059669"/>
                </a:solidFill>
                <a:latin typeface="Consolas"/>
              </a:rPr>
              <a:t>7.66억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98280" y="5029200"/>
            <a:ext cx="25603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50" b="0">
                <a:solidFill>
                  <a:srgbClr val="94A3B8"/>
                </a:solidFill>
                <a:latin typeface="맑은 고딕"/>
              </a:rPr>
              <a:t>SW 개발비 (이윤15%)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" y="557784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50" b="0">
                <a:solidFill>
                  <a:srgbClr val="94A3B8"/>
                </a:solidFill>
                <a:latin typeface="Consolas"/>
              </a:rPr>
              <a:t>보정: 규모 1.28  ·  연계복잡성 1.12 (11개+)  ·  성능 1.00  ·  운영환경 1.00  ·  보안성 1.03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114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2336"/>
            <a:ext cx="12191695" cy="1270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D4ED8"/>
                </a:solidFill>
                <a:latin typeface="맑은 고딕"/>
              </a:rPr>
              <a:t>SW/AI 구성도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>
                <a:solidFill>
                  <a:srgbClr val="94A3B8"/>
                </a:solidFill>
                <a:latin typeface="Consolas"/>
              </a:rPr>
              <a:t>08 / 08 — 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03503"/>
            <a:ext cx="182880" cy="22860"/>
          </a:xfrm>
          <a:prstGeom prst="roundRect">
            <a:avLst>
              <a:gd name="adj" fmla="val 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54864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1">
                <a:solidFill>
                  <a:srgbClr val="1D4ED8"/>
                </a:solidFill>
                <a:latin typeface="Consolas"/>
              </a:rPr>
              <a:t>TECH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E293B"/>
                </a:solidFill>
                <a:latin typeface="맑은 고딕"/>
              </a:rPr>
              <a:t>기술 스택 구성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34440"/>
            <a:ext cx="3657600" cy="1993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234440"/>
            <a:ext cx="3657600" cy="292608"/>
          </a:xfrm>
          <a:prstGeom prst="roundRect">
            <a:avLst>
              <a:gd name="adj" fmla="val 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71016"/>
            <a:ext cx="3474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FFFFF"/>
                </a:solidFill>
                <a:latin typeface="Consolas"/>
              </a:rPr>
              <a:t>AI /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600200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E293B"/>
                </a:solidFill>
                <a:latin typeface="맑은 고딕"/>
              </a:rPr>
              <a:t>PyTorch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600200"/>
            <a:ext cx="10972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94A3B8"/>
                </a:solidFill>
                <a:latin typeface="Consolas"/>
              </a:rPr>
              <a:t>2.x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01368"/>
            <a:ext cx="3474720" cy="635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1856232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E293B"/>
                </a:solidFill>
                <a:latin typeface="맑은 고딕"/>
              </a:rPr>
              <a:t>Prophet / NeuralProphet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856232"/>
            <a:ext cx="10972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94A3B8"/>
                </a:solidFill>
                <a:latin typeface="Consolas"/>
              </a:rPr>
              <a:t>latest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057400"/>
            <a:ext cx="3474720" cy="635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2112264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E293B"/>
                </a:solidFill>
                <a:latin typeface="맑은 고딕"/>
              </a:rPr>
              <a:t>XGBoost / LightGBM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112264"/>
            <a:ext cx="10972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94A3B8"/>
                </a:solidFill>
                <a:latin typeface="Consolas"/>
              </a:rPr>
              <a:t>2.x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313432"/>
            <a:ext cx="3474720" cy="635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2368296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E293B"/>
                </a:solidFill>
                <a:latin typeface="맑은 고딕"/>
              </a:rPr>
              <a:t>Ultralytics YOLOv8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2368296"/>
            <a:ext cx="10972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94A3B8"/>
                </a:solidFill>
                <a:latin typeface="Consolas"/>
              </a:rPr>
              <a:t>8.x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569464"/>
            <a:ext cx="3474720" cy="635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2624328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E293B"/>
                </a:solidFill>
                <a:latin typeface="맑은 고딕"/>
              </a:rPr>
              <a:t>DeepSORT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2624328"/>
            <a:ext cx="10972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94A3B8"/>
                </a:solidFill>
                <a:latin typeface="Consolas"/>
              </a:rPr>
              <a:t>-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825496"/>
            <a:ext cx="3474720" cy="635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2880360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E293B"/>
                </a:solidFill>
                <a:latin typeface="맑은 고딕"/>
              </a:rPr>
              <a:t>TensorRT / ONNX Runtime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2880360"/>
            <a:ext cx="10972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94A3B8"/>
                </a:solidFill>
                <a:latin typeface="Consolas"/>
              </a:rPr>
              <a:t>8.x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081528"/>
            <a:ext cx="3474720" cy="635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206240" y="1234440"/>
            <a:ext cx="3657600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206240" y="1234440"/>
            <a:ext cx="3657600" cy="292608"/>
          </a:xfrm>
          <a:prstGeom prst="roundRect">
            <a:avLst>
              <a:gd name="adj" fmla="val 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0" y="1271016"/>
            <a:ext cx="3474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FFFFF"/>
                </a:solidFill>
                <a:latin typeface="Consolas"/>
              </a:rPr>
              <a:t>Optimization / 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1600200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E293B"/>
                </a:solidFill>
                <a:latin typeface="맑은 고딕"/>
              </a:rPr>
              <a:t>Google OR-Tools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1600200"/>
            <a:ext cx="10972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94A3B8"/>
                </a:solidFill>
                <a:latin typeface="Consolas"/>
              </a:rPr>
              <a:t>9.x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1801368"/>
            <a:ext cx="3474720" cy="635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15968" y="1856232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E293B"/>
                </a:solidFill>
                <a:latin typeface="맑은 고딕"/>
              </a:rPr>
              <a:t>OSRM (거리 행렬)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1856232"/>
            <a:ext cx="10972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94A3B8"/>
                </a:solidFill>
                <a:latin typeface="Consolas"/>
              </a:rPr>
              <a:t>5.x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80" y="2057400"/>
            <a:ext cx="3474720" cy="635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15968" y="2112264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E293B"/>
                </a:solidFill>
                <a:latin typeface="맑은 고딕"/>
              </a:rPr>
              <a:t>Kakao Maps API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2112264"/>
            <a:ext cx="10972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94A3B8"/>
                </a:solidFill>
                <a:latin typeface="Consolas"/>
              </a:rPr>
              <a:t>REST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97680" y="2313432"/>
            <a:ext cx="3474720" cy="635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15968" y="2368296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E293B"/>
                </a:solidFill>
                <a:latin typeface="맑은 고딕"/>
              </a:rPr>
              <a:t>Haversine / Vincenty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2368296"/>
            <a:ext cx="10972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94A3B8"/>
                </a:solidFill>
                <a:latin typeface="Consolas"/>
              </a:rPr>
              <a:t>-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0" y="2569464"/>
            <a:ext cx="3474720" cy="635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046720" y="1234440"/>
            <a:ext cx="365760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046720" y="1234440"/>
            <a:ext cx="3657600" cy="292608"/>
          </a:xfrm>
          <a:prstGeom prst="roundRect">
            <a:avLst>
              <a:gd name="adj" fmla="val 0"/>
            </a:avLst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38160" y="1271016"/>
            <a:ext cx="3474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FFFFF"/>
                </a:solidFill>
                <a:latin typeface="Consolas"/>
              </a:rPr>
              <a:t>Backend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56448" y="1600200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E293B"/>
                </a:solidFill>
                <a:latin typeface="맑은 고딕"/>
              </a:rPr>
              <a:t>FastAPI (Python)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0" y="1600200"/>
            <a:ext cx="10972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94A3B8"/>
                </a:solidFill>
                <a:latin typeface="Consolas"/>
              </a:rPr>
              <a:t>0.110+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38160" y="1801368"/>
            <a:ext cx="3474720" cy="635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56448" y="1856232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E293B"/>
                </a:solidFill>
                <a:latin typeface="맑은 고딕"/>
              </a:rPr>
              <a:t>Apache Kafka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24160" y="1856232"/>
            <a:ext cx="10972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94A3B8"/>
                </a:solidFill>
                <a:latin typeface="Consolas"/>
              </a:rPr>
              <a:t>3.x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38160" y="2057400"/>
            <a:ext cx="3474720" cy="635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56448" y="2112264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E293B"/>
                </a:solidFill>
                <a:latin typeface="맑은 고딕"/>
              </a:rPr>
              <a:t>Celery + Redis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60" y="2112264"/>
            <a:ext cx="10972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94A3B8"/>
                </a:solidFill>
                <a:latin typeface="Consolas"/>
              </a:rPr>
              <a:t>5.x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38160" y="2313432"/>
            <a:ext cx="3474720" cy="635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56448" y="2368296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E293B"/>
                </a:solidFill>
                <a:latin typeface="맑은 고딕"/>
              </a:rPr>
              <a:t>JWT / OAuth2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24160" y="2368296"/>
            <a:ext cx="10972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94A3B8"/>
                </a:solidFill>
                <a:latin typeface="Consolas"/>
              </a:rPr>
              <a:t>-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8160" y="2569464"/>
            <a:ext cx="3474720" cy="635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56448" y="2624328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E293B"/>
                </a:solidFill>
                <a:latin typeface="맑은 고딕"/>
              </a:rPr>
              <a:t>SQLAlchemy / Alembic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24160" y="2624328"/>
            <a:ext cx="10972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94A3B8"/>
                </a:solidFill>
                <a:latin typeface="Consolas"/>
              </a:rPr>
              <a:t>2.x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38160" y="2825496"/>
            <a:ext cx="3474720" cy="635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65760" y="3977639"/>
            <a:ext cx="365760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365760" y="3977639"/>
            <a:ext cx="3657600" cy="292608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4014215"/>
            <a:ext cx="3474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FFFFF"/>
                </a:solidFill>
                <a:latin typeface="Consolas"/>
              </a:rPr>
              <a:t>Frontend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5488" y="4343400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E293B"/>
                </a:solidFill>
                <a:latin typeface="맑은 고딕"/>
              </a:rPr>
              <a:t>React + TypeScript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43200" y="4343400"/>
            <a:ext cx="10972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94A3B8"/>
                </a:solidFill>
                <a:latin typeface="Consolas"/>
              </a:rPr>
              <a:t>18.x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4544568"/>
            <a:ext cx="3474720" cy="635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75488" y="4599432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E293B"/>
                </a:solidFill>
                <a:latin typeface="맑은 고딕"/>
              </a:rPr>
              <a:t>React Native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43200" y="4599432"/>
            <a:ext cx="10972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94A3B8"/>
                </a:solidFill>
                <a:latin typeface="Consolas"/>
              </a:rPr>
              <a:t>0.74+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4800600"/>
            <a:ext cx="3474720" cy="635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75488" y="4855464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E293B"/>
                </a:solidFill>
                <a:latin typeface="맑은 고딕"/>
              </a:rPr>
              <a:t>D3.js / Recharts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0" y="4855464"/>
            <a:ext cx="10972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94A3B8"/>
                </a:solidFill>
                <a:latin typeface="Consolas"/>
              </a:rPr>
              <a:t>7.x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" y="5056632"/>
            <a:ext cx="3474720" cy="635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75488" y="5111496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E293B"/>
                </a:solidFill>
                <a:latin typeface="맑은 고딕"/>
              </a:rPr>
              <a:t>Leaflet / Kakao Maps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43200" y="5111496"/>
            <a:ext cx="10972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94A3B8"/>
                </a:solidFill>
                <a:latin typeface="Consolas"/>
              </a:rPr>
              <a:t>-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5312664"/>
            <a:ext cx="3474720" cy="635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75488" y="5367528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E293B"/>
                </a:solidFill>
                <a:latin typeface="맑은 고딕"/>
              </a:rPr>
              <a:t>WebSocket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743200" y="5367528"/>
            <a:ext cx="10972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94A3B8"/>
                </a:solidFill>
                <a:latin typeface="Consolas"/>
              </a:rPr>
              <a:t>-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5568696"/>
            <a:ext cx="3474720" cy="635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4206240" y="3977639"/>
            <a:ext cx="3657600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4206240" y="3977639"/>
            <a:ext cx="3657600" cy="292608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297680" y="4014215"/>
            <a:ext cx="3474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FFFFF"/>
                </a:solidFill>
                <a:latin typeface="Consolas"/>
              </a:rPr>
              <a:t>Database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15968" y="4343400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E293B"/>
                </a:solidFill>
                <a:latin typeface="맑은 고딕"/>
              </a:rPr>
              <a:t>TimescaleDB (시계열)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83680" y="4343400"/>
            <a:ext cx="10972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94A3B8"/>
                </a:solidFill>
                <a:latin typeface="Consolas"/>
              </a:rPr>
              <a:t>latest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297680" y="4544568"/>
            <a:ext cx="3474720" cy="635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315968" y="4599432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E293B"/>
                </a:solidFill>
                <a:latin typeface="맑은 고딕"/>
              </a:rPr>
              <a:t>PostgreSQL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583680" y="4599432"/>
            <a:ext cx="10972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94A3B8"/>
                </a:solidFill>
                <a:latin typeface="Consolas"/>
              </a:rPr>
              <a:t>16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297680" y="4800600"/>
            <a:ext cx="3474720" cy="635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315968" y="4855464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E293B"/>
                </a:solidFill>
                <a:latin typeface="맑은 고딕"/>
              </a:rPr>
              <a:t>Redis (캐시/큐)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583680" y="4855464"/>
            <a:ext cx="10972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94A3B8"/>
                </a:solidFill>
                <a:latin typeface="Consolas"/>
              </a:rPr>
              <a:t>7.x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297680" y="5056632"/>
            <a:ext cx="3474720" cy="635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315968" y="5111496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E293B"/>
                </a:solidFill>
                <a:latin typeface="맑은 고딕"/>
              </a:rPr>
              <a:t>MinIO (객체 저장)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83680" y="5111496"/>
            <a:ext cx="10972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94A3B8"/>
                </a:solidFill>
                <a:latin typeface="Consolas"/>
              </a:rPr>
              <a:t>-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297680" y="5312664"/>
            <a:ext cx="3474720" cy="635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8046720" y="3977639"/>
            <a:ext cx="365760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8046720" y="3977639"/>
            <a:ext cx="3657600" cy="292608"/>
          </a:xfrm>
          <a:prstGeom prst="roundRect">
            <a:avLst>
              <a:gd name="adj" fmla="val 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138160" y="4014215"/>
            <a:ext cx="3474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FFFFF"/>
                </a:solidFill>
                <a:latin typeface="Consolas"/>
              </a:rPr>
              <a:t>Infrastructure / DevOps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156448" y="4343400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E293B"/>
                </a:solidFill>
                <a:latin typeface="맑은 고딕"/>
              </a:rPr>
              <a:t>Docker + Kubernetes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424160" y="4343400"/>
            <a:ext cx="10972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94A3B8"/>
                </a:solidFill>
                <a:latin typeface="Consolas"/>
              </a:rPr>
              <a:t>latest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138160" y="4544568"/>
            <a:ext cx="3474720" cy="635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156448" y="4599432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E293B"/>
                </a:solidFill>
                <a:latin typeface="맑은 고딕"/>
              </a:rPr>
              <a:t>GitLab CI/CD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424160" y="4599432"/>
            <a:ext cx="10972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94A3B8"/>
                </a:solidFill>
                <a:latin typeface="Consolas"/>
              </a:rPr>
              <a:t>-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138160" y="4800600"/>
            <a:ext cx="3474720" cy="635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156448" y="4855464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E293B"/>
                </a:solidFill>
                <a:latin typeface="맑은 고딕"/>
              </a:rPr>
              <a:t>Grafana + Prometheus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424160" y="4855464"/>
            <a:ext cx="10972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94A3B8"/>
                </a:solidFill>
                <a:latin typeface="Consolas"/>
              </a:rPr>
              <a:t>10.x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138160" y="5056632"/>
            <a:ext cx="3474720" cy="635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156448" y="5111496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E293B"/>
                </a:solidFill>
                <a:latin typeface="맑은 고딕"/>
              </a:rPr>
              <a:t>NVIDIA Jetson SDK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424160" y="5111496"/>
            <a:ext cx="10972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94A3B8"/>
                </a:solidFill>
                <a:latin typeface="Consolas"/>
              </a:rPr>
              <a:t>6.0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138160" y="5312664"/>
            <a:ext cx="3474720" cy="635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156448" y="5367528"/>
            <a:ext cx="21945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1E293B"/>
                </a:solidFill>
                <a:latin typeface="맑은 고딕"/>
              </a:rPr>
              <a:t>TLS 1.3 / AES-256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424160" y="5367528"/>
            <a:ext cx="10972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94A3B8"/>
                </a:solidFill>
                <a:latin typeface="Consolas"/>
              </a:rPr>
              <a:t>-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138160" y="5568696"/>
            <a:ext cx="3474720" cy="6350"/>
          </a:xfrm>
          <a:prstGeom prst="rect">
            <a:avLst/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